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486" r:id="rId2"/>
    <p:sldId id="487" r:id="rId3"/>
    <p:sldId id="488" r:id="rId4"/>
    <p:sldId id="489" r:id="rId5"/>
    <p:sldId id="490" r:id="rId6"/>
    <p:sldId id="491" r:id="rId7"/>
    <p:sldId id="49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2646FD-DFF7-473F-97D7-E3C5EFB7AB46}" type="datetimeFigureOut">
              <a:rPr lang="en-US" smtClean="0"/>
              <a:t>11/25/2024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FC2874-935A-4BA6-A608-D5A3ECE76623}" type="slidenum">
              <a:rPr lang="en-US" smtClean="0"/>
              <a:t>‹#›</a:t>
            </a:fld>
            <a:endParaRPr lang="en-US"/>
          </a:p>
        </p:txBody>
      </p:sp>
    </p:spTree>
    <p:extLst>
      <p:ext uri="{BB962C8B-B14F-4D97-AF65-F5344CB8AC3E}">
        <p14:creationId xmlns:p14="http://schemas.microsoft.com/office/powerpoint/2010/main" val="3985822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just" defTabSz="914400" rtl="0" eaLnBrk="1" fontAlgn="auto" latinLnBrk="0" hangingPunct="1">
              <a:lnSpc>
                <a:spcPct val="100000"/>
              </a:lnSpc>
              <a:spcBef>
                <a:spcPts val="0"/>
              </a:spcBef>
              <a:spcAft>
                <a:spcPts val="0"/>
              </a:spcAft>
              <a:buClr>
                <a:srgbClr val="000000"/>
              </a:buClr>
              <a:buSzTx/>
              <a:buFont typeface="+mj-lt"/>
              <a:buAutoNum type="arabicParenR"/>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The power of the downdraft also increases in proportion to the relative concentration of smaller particles. </a:t>
            </a:r>
          </a:p>
          <a:p>
            <a:pPr marL="342900" marR="0" lvl="0" indent="-342900" algn="just" defTabSz="914400" rtl="0" eaLnBrk="1" fontAlgn="auto" latinLnBrk="0" hangingPunct="1">
              <a:lnSpc>
                <a:spcPct val="100000"/>
              </a:lnSpc>
              <a:spcBef>
                <a:spcPts val="0"/>
              </a:spcBef>
              <a:spcAft>
                <a:spcPts val="0"/>
              </a:spcAft>
              <a:buClr>
                <a:srgbClr val="000000"/>
              </a:buClr>
              <a:buSzTx/>
              <a:buFont typeface="+mj-lt"/>
              <a:buAutoNum type="arabicParenR"/>
              <a:tabLst/>
              <a:defRPr/>
            </a:pPr>
            <a:endParaRPr kumimoji="0" lang="en-US" sz="1600" b="1"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just" defTabSz="914400" rtl="0" eaLnBrk="1" fontAlgn="auto" latinLnBrk="0" hangingPunct="1">
              <a:lnSpc>
                <a:spcPct val="100000"/>
              </a:lnSpc>
              <a:spcBef>
                <a:spcPts val="0"/>
              </a:spcBef>
              <a:spcAft>
                <a:spcPts val="0"/>
              </a:spcAft>
              <a:buClr>
                <a:srgbClr val="000000"/>
              </a:buClr>
              <a:buSzTx/>
              <a:buFont typeface="+mj-lt"/>
              <a:buAutoNum type="arabicParenR"/>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In conjunction with precipitation loading, the melting of frozen hydrometeors and </a:t>
            </a:r>
            <a:r>
              <a:rPr kumimoji="0" lang="en-US" sz="1600" b="1" i="0" u="none" strike="noStrike" kern="0" cap="none" spc="0" normalizeH="0" baseline="0" noProof="0" dirty="0" err="1">
                <a:ln>
                  <a:noFill/>
                </a:ln>
                <a:solidFill>
                  <a:srgbClr val="000000"/>
                </a:solidFill>
                <a:effectLst/>
                <a:uLnTx/>
                <a:uFillTx/>
                <a:latin typeface="Arial"/>
                <a:cs typeface="Arial"/>
                <a:sym typeface="Arial"/>
              </a:rPr>
              <a:t>subcloud</a:t>
            </a:r>
            <a:r>
              <a:rPr kumimoji="0" lang="en-US" sz="1600" b="1" i="0" u="none" strike="noStrike" kern="0" cap="none" spc="0" normalizeH="0" baseline="0" noProof="0" dirty="0">
                <a:ln>
                  <a:noFill/>
                </a:ln>
                <a:solidFill>
                  <a:srgbClr val="000000"/>
                </a:solidFill>
                <a:effectLst/>
                <a:uLnTx/>
                <a:uFillTx/>
                <a:latin typeface="Arial"/>
                <a:cs typeface="Arial"/>
                <a:sym typeface="Arial"/>
              </a:rPr>
              <a:t> evaporation of liquid precipitation results in the cooling and negative buoyancy that accelerate the downdraft in the unsaturated layer promoted by a significant temperature lapse rate (Srivastava 1987). </a:t>
            </a:r>
          </a:p>
          <a:p>
            <a:pPr marL="342900" marR="0" lvl="0" indent="-342900" algn="just" defTabSz="914400" rtl="0" eaLnBrk="1" fontAlgn="auto" latinLnBrk="0" hangingPunct="1">
              <a:lnSpc>
                <a:spcPct val="100000"/>
              </a:lnSpc>
              <a:spcBef>
                <a:spcPts val="0"/>
              </a:spcBef>
              <a:spcAft>
                <a:spcPts val="0"/>
              </a:spcAft>
              <a:buClr>
                <a:srgbClr val="000000"/>
              </a:buClr>
              <a:buSzTx/>
              <a:buFont typeface="+mj-lt"/>
              <a:buAutoNum type="arabicParenR"/>
              <a:tabLst/>
              <a:defRPr/>
            </a:pPr>
            <a:endParaRPr kumimoji="0" lang="en-US" sz="1600" b="1"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just" defTabSz="914400" rtl="0" eaLnBrk="1" fontAlgn="auto" latinLnBrk="0" hangingPunct="1">
              <a:lnSpc>
                <a:spcPct val="100000"/>
              </a:lnSpc>
              <a:spcBef>
                <a:spcPts val="0"/>
              </a:spcBef>
              <a:spcAft>
                <a:spcPts val="0"/>
              </a:spcAft>
              <a:buClr>
                <a:srgbClr val="000000"/>
              </a:buClr>
              <a:buSzTx/>
              <a:buFont typeface="+mj-lt"/>
              <a:buAutoNum type="arabicParenR"/>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The melting of ice-phase precipitation, subsequent evaporative cooling, and the resulting downdraft strength are enhanced by sizeable liquid water content and the related water surface available for evaporation.</a:t>
            </a:r>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74222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5847" marR="0" lvl="0" indent="-457200" algn="l" defTabSz="914400" rtl="0" eaLnBrk="1" fontAlgn="auto" latinLnBrk="0" hangingPunct="1">
              <a:lnSpc>
                <a:spcPct val="100000"/>
              </a:lnSpc>
              <a:spcBef>
                <a:spcPts val="0"/>
              </a:spcBef>
              <a:spcAft>
                <a:spcPts val="0"/>
              </a:spcAft>
              <a:buClr>
                <a:srgbClr val="000000"/>
              </a:buClr>
              <a:buSzPts val="1400"/>
              <a:buFont typeface="+mj-lt"/>
              <a:buAutoNum type="arabicParenR"/>
              <a:tabLst/>
              <a:defRPr/>
            </a:pPr>
            <a:r>
              <a:rPr kumimoji="0" lang="en-US" sz="2000" b="1" i="0" u="none" strike="noStrike" kern="0" cap="none" spc="0" normalizeH="0" baseline="0" noProof="0" dirty="0">
                <a:ln>
                  <a:noFill/>
                </a:ln>
                <a:solidFill>
                  <a:srgbClr val="000000"/>
                </a:solidFill>
                <a:effectLst/>
                <a:uLnTx/>
                <a:uFillTx/>
                <a:latin typeface="Calibri"/>
                <a:cs typeface="Calibri"/>
                <a:sym typeface="Calibri"/>
              </a:rPr>
              <a:t>Downdrafts are closely controlled by the arrival of precipitation at low levels. In the storm middle levels, air flows quasi-horizontally around the updraft flanks and converges into the </a:t>
            </a:r>
            <a:r>
              <a:rPr kumimoji="0" lang="en-US" sz="2000" b="1" i="0" u="none" strike="noStrike" kern="0" cap="none" spc="0" normalizeH="0" baseline="0" noProof="0" dirty="0" err="1">
                <a:ln>
                  <a:noFill/>
                </a:ln>
                <a:solidFill>
                  <a:srgbClr val="000000"/>
                </a:solidFill>
                <a:effectLst/>
                <a:uLnTx/>
                <a:uFillTx/>
                <a:latin typeface="Calibri"/>
                <a:cs typeface="Calibri"/>
                <a:sym typeface="Calibri"/>
              </a:rPr>
              <a:t>downshear</a:t>
            </a:r>
            <a:r>
              <a:rPr kumimoji="0" lang="en-US" sz="2000" b="1" i="0" u="none" strike="noStrike" kern="0" cap="none" spc="0" normalizeH="0" baseline="0" noProof="0" dirty="0">
                <a:ln>
                  <a:noFill/>
                </a:ln>
                <a:solidFill>
                  <a:srgbClr val="000000"/>
                </a:solidFill>
                <a:effectLst/>
                <a:uLnTx/>
                <a:uFillTx/>
                <a:latin typeface="Calibri"/>
                <a:cs typeface="Calibri"/>
                <a:sym typeface="Calibri"/>
              </a:rPr>
              <a:t> flank, referred to as the wake. </a:t>
            </a:r>
          </a:p>
          <a:p>
            <a:pPr marL="795847" marR="0" lvl="0" indent="-457200" algn="l" defTabSz="914400" rtl="0" eaLnBrk="1" fontAlgn="auto" latinLnBrk="0" hangingPunct="1">
              <a:lnSpc>
                <a:spcPct val="100000"/>
              </a:lnSpc>
              <a:spcBef>
                <a:spcPts val="0"/>
              </a:spcBef>
              <a:spcAft>
                <a:spcPts val="0"/>
              </a:spcAft>
              <a:buClr>
                <a:srgbClr val="000000"/>
              </a:buClr>
              <a:buSzPts val="1400"/>
              <a:buFont typeface="+mj-lt"/>
              <a:buAutoNum type="arabicParenR"/>
              <a:tabLst/>
              <a:defRPr/>
            </a:pPr>
            <a:r>
              <a:rPr kumimoji="0" lang="en-US" sz="2000" b="1" i="0" u="none" strike="noStrike" kern="0" cap="none" spc="0" normalizeH="0" baseline="0" noProof="0" dirty="0">
                <a:ln>
                  <a:noFill/>
                </a:ln>
                <a:solidFill>
                  <a:srgbClr val="000000"/>
                </a:solidFill>
                <a:effectLst/>
                <a:uLnTx/>
                <a:uFillTx/>
                <a:latin typeface="Calibri"/>
                <a:cs typeface="Calibri"/>
                <a:sym typeface="Calibri"/>
              </a:rPr>
              <a:t>Within the wake region, where entrainment reduces positive buoyancy and associated updraft strength, precipitation at middle levels (where it is grown most effectively) is then allowed to descend to lower levels. </a:t>
            </a:r>
          </a:p>
          <a:p>
            <a:pPr marL="795847" marR="0" lvl="0" indent="-457200" algn="l" defTabSz="914400" rtl="0" eaLnBrk="1" fontAlgn="auto" latinLnBrk="0" hangingPunct="1">
              <a:lnSpc>
                <a:spcPct val="100000"/>
              </a:lnSpc>
              <a:spcBef>
                <a:spcPts val="0"/>
              </a:spcBef>
              <a:spcAft>
                <a:spcPts val="0"/>
              </a:spcAft>
              <a:buClr>
                <a:srgbClr val="000000"/>
              </a:buClr>
              <a:buSzPts val="1400"/>
              <a:buFont typeface="+mj-lt"/>
              <a:buAutoNum type="arabicParenR"/>
              <a:tabLst/>
              <a:defRPr/>
            </a:pPr>
            <a:r>
              <a:rPr kumimoji="0" lang="en-US" sz="2000" b="1" i="0" u="none" strike="noStrike" kern="0" cap="none" spc="0" normalizeH="0" baseline="0" noProof="0" dirty="0">
                <a:ln>
                  <a:noFill/>
                </a:ln>
                <a:solidFill>
                  <a:srgbClr val="000000"/>
                </a:solidFill>
                <a:effectLst/>
                <a:uLnTx/>
                <a:uFillTx/>
                <a:latin typeface="Calibri"/>
                <a:cs typeface="Calibri"/>
                <a:sym typeface="Calibri"/>
              </a:rPr>
              <a:t>The intrusion of drier air into the wake’s precipitation region also enhances the evaporation/sublimation process. Diabatic cooling from melting and evaporation is most effective at levels below the melting level. </a:t>
            </a:r>
          </a:p>
          <a:p>
            <a:pPr marL="795847" marR="0" lvl="0" indent="-457200" algn="l" defTabSz="914400" rtl="0" eaLnBrk="1" fontAlgn="auto" latinLnBrk="0" hangingPunct="1">
              <a:lnSpc>
                <a:spcPct val="100000"/>
              </a:lnSpc>
              <a:spcBef>
                <a:spcPts val="0"/>
              </a:spcBef>
              <a:spcAft>
                <a:spcPts val="0"/>
              </a:spcAft>
              <a:buClr>
                <a:srgbClr val="000000"/>
              </a:buClr>
              <a:buSzPts val="1400"/>
              <a:buFont typeface="+mj-lt"/>
              <a:buAutoNum type="arabicParenR"/>
              <a:tabLst/>
              <a:defRPr/>
            </a:pPr>
            <a:r>
              <a:rPr kumimoji="0" lang="en-US" sz="2000" b="1" i="0" u="none" strike="noStrike" kern="0" cap="none" spc="0" normalizeH="0" baseline="0" noProof="0" dirty="0">
                <a:ln>
                  <a:noFill/>
                </a:ln>
                <a:solidFill>
                  <a:srgbClr val="000000"/>
                </a:solidFill>
                <a:effectLst/>
                <a:uLnTx/>
                <a:uFillTx/>
                <a:latin typeface="Calibri"/>
                <a:cs typeface="Calibri"/>
                <a:sym typeface="Calibri"/>
              </a:rPr>
              <a:t>Therefore, a comprehensive understanding of the downdraft initiation process is closely related to the precipitation initiation and transport process within clouds and is observable in passive microwave imagery, as shown in the following case studies.</a:t>
            </a:r>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08735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DF855-187F-4AB9-A3AE-0D690CFAA9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C2B9A3-E6DC-4A66-A1D0-876DB86F60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179890-51F4-4E62-828A-0DFC4E692A49}"/>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5" name="Footer Placeholder 4">
            <a:extLst>
              <a:ext uri="{FF2B5EF4-FFF2-40B4-BE49-F238E27FC236}">
                <a16:creationId xmlns:a16="http://schemas.microsoft.com/office/drawing/2014/main" id="{DA9C2E96-E8DC-4FB0-9B4C-D37C79103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2381E-CD9A-40BD-9327-895FA3D183D5}"/>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3174432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8C2B0-83CB-4800-BC93-A340FEFFC5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2B3D7F-72F5-4AC4-823C-F3BDD28BF8D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328BAA-9DE8-4360-B80C-86DB0B98D8C5}"/>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5" name="Footer Placeholder 4">
            <a:extLst>
              <a:ext uri="{FF2B5EF4-FFF2-40B4-BE49-F238E27FC236}">
                <a16:creationId xmlns:a16="http://schemas.microsoft.com/office/drawing/2014/main" id="{5DCB4BAD-20F0-46C0-B6F3-917147887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48770F-08AE-44D6-B5FD-E64194665773}"/>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3648313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33565-72E5-4495-A643-80F846636A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4B7044-488C-4729-9DC5-0670F8A434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1D8CFE1-95F6-46E5-B216-7BB42341A11F}"/>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5" name="Footer Placeholder 4">
            <a:extLst>
              <a:ext uri="{FF2B5EF4-FFF2-40B4-BE49-F238E27FC236}">
                <a16:creationId xmlns:a16="http://schemas.microsoft.com/office/drawing/2014/main" id="{68A1996E-8AF8-4AFA-B65C-48351CAADB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2611FF-D926-41F8-BA87-7C2E8AFB0455}"/>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4243963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C3D1C-B5D6-4557-8BE3-2E29F530BC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77796A-5142-4151-8B5E-FFE50496210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14E8AA-43FE-47D1-B74B-7CAE7CDC360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4239AC-2266-4CBA-AFB1-5D03E4374EAF}"/>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6" name="Footer Placeholder 5">
            <a:extLst>
              <a:ext uri="{FF2B5EF4-FFF2-40B4-BE49-F238E27FC236}">
                <a16:creationId xmlns:a16="http://schemas.microsoft.com/office/drawing/2014/main" id="{27213ED3-70D3-411E-B483-CA430AF4D8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8CB96-4446-4EA4-A2BA-8E0A104CB7BE}"/>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190936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15964-C44E-4A2A-87E6-2E7768355F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232278-D711-4EAE-991D-4E0EB4D6EA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4E2BB60-DDBC-4324-9F89-92587956F56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C2216B-67C4-4EE5-B6E0-0576451446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461E3C8-F68A-48DE-BEFE-C4D14F24CB3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51D40F-CFAB-4F27-9CB1-C50C78FE8CE5}"/>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8" name="Footer Placeholder 7">
            <a:extLst>
              <a:ext uri="{FF2B5EF4-FFF2-40B4-BE49-F238E27FC236}">
                <a16:creationId xmlns:a16="http://schemas.microsoft.com/office/drawing/2014/main" id="{FCCB07DC-A413-44A9-B595-485A491931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46CDEB-9974-4C7F-A827-A04E734671A9}"/>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930281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56F44-EBE5-4F09-B547-FCF62C2359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4B6603-6756-4A96-9BEC-096EEFCA9FBA}"/>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4" name="Footer Placeholder 3">
            <a:extLst>
              <a:ext uri="{FF2B5EF4-FFF2-40B4-BE49-F238E27FC236}">
                <a16:creationId xmlns:a16="http://schemas.microsoft.com/office/drawing/2014/main" id="{84BEDBA8-FE89-4490-A0D3-46AEC0E8EF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511947-6FA6-4C4B-A6B3-BD46E4E32923}"/>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1737320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D9E299-9425-4267-B4E1-D6AD03F0D55C}"/>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3" name="Footer Placeholder 2">
            <a:extLst>
              <a:ext uri="{FF2B5EF4-FFF2-40B4-BE49-F238E27FC236}">
                <a16:creationId xmlns:a16="http://schemas.microsoft.com/office/drawing/2014/main" id="{21D5F003-A6E0-43AE-8A87-856C9F50E6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046DBC-E4EB-4A09-AD08-DF274C39D31C}"/>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2122894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313EE-0FDB-439C-99C6-215B359DC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D75673-CC85-4ED5-8F1A-2DAFA3E270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867306-8975-4F17-BAF2-25EA54148B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04A9378-6652-4251-B279-D75207A479A7}"/>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6" name="Footer Placeholder 5">
            <a:extLst>
              <a:ext uri="{FF2B5EF4-FFF2-40B4-BE49-F238E27FC236}">
                <a16:creationId xmlns:a16="http://schemas.microsoft.com/office/drawing/2014/main" id="{C81A17F2-1026-4C17-A379-E095A0C371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24AC44-7CBF-400A-8A6C-55908902EEC2}"/>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3959021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AEFBD-88BD-49A3-A7C3-B372A5366C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9AE2F-853F-4037-B86A-6EEDFBEC9F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CB4E83-8153-44D5-AEB6-277005B964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1BF2D7D-64FB-44C9-95F4-B9F97F85D098}"/>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6" name="Footer Placeholder 5">
            <a:extLst>
              <a:ext uri="{FF2B5EF4-FFF2-40B4-BE49-F238E27FC236}">
                <a16:creationId xmlns:a16="http://schemas.microsoft.com/office/drawing/2014/main" id="{5D827506-42E9-4BDE-A8A8-0A331E60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C0F804-FB3F-4629-BE4B-FAF7DA26C316}"/>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2463385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6AA8F-3F40-40AA-9094-7342AF83CB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E764E6-E5FE-4806-8811-C1DC6EC84D9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4109E7-1D3B-453A-87FB-E90EDC33AC2F}"/>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5" name="Footer Placeholder 4">
            <a:extLst>
              <a:ext uri="{FF2B5EF4-FFF2-40B4-BE49-F238E27FC236}">
                <a16:creationId xmlns:a16="http://schemas.microsoft.com/office/drawing/2014/main" id="{5ED6F8B4-6ED9-428C-8ADE-92205B7445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C1D67-48C3-4E2B-A3D9-1E92AF590E01}"/>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4218147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8E6C58-FA9F-4A78-99A2-E39CC68FED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7CF710-E500-42D4-B966-07DEC63F8FD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68A199-3FC2-4FE1-9011-11E5185F9FF9}"/>
              </a:ext>
            </a:extLst>
          </p:cNvPr>
          <p:cNvSpPr>
            <a:spLocks noGrp="1"/>
          </p:cNvSpPr>
          <p:nvPr>
            <p:ph type="dt" sz="half" idx="10"/>
          </p:nvPr>
        </p:nvSpPr>
        <p:spPr/>
        <p:txBody>
          <a:bodyPr/>
          <a:lstStyle/>
          <a:p>
            <a:fld id="{EF13ED48-2278-4568-B093-60AFDFAF8A6E}" type="datetimeFigureOut">
              <a:rPr lang="en-US" smtClean="0"/>
              <a:t>11/25/2024</a:t>
            </a:fld>
            <a:endParaRPr lang="en-US"/>
          </a:p>
        </p:txBody>
      </p:sp>
      <p:sp>
        <p:nvSpPr>
          <p:cNvPr id="5" name="Footer Placeholder 4">
            <a:extLst>
              <a:ext uri="{FF2B5EF4-FFF2-40B4-BE49-F238E27FC236}">
                <a16:creationId xmlns:a16="http://schemas.microsoft.com/office/drawing/2014/main" id="{C0DDEBF2-7B0B-454A-A87A-173F8FA7CF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94CDBC-C17A-439E-A3BA-23432AAC808C}"/>
              </a:ext>
            </a:extLst>
          </p:cNvPr>
          <p:cNvSpPr>
            <a:spLocks noGrp="1"/>
          </p:cNvSpPr>
          <p:nvPr>
            <p:ph type="sldNum" sz="quarter" idx="12"/>
          </p:nvPr>
        </p:nvSpPr>
        <p:spPr/>
        <p:txBody>
          <a:bodyPr/>
          <a:lstStyle/>
          <a:p>
            <a:fld id="{7261BBD7-DDEC-4312-B0C5-DAFD966D45B3}" type="slidenum">
              <a:rPr lang="en-US" smtClean="0"/>
              <a:t>‹#›</a:t>
            </a:fld>
            <a:endParaRPr lang="en-US"/>
          </a:p>
        </p:txBody>
      </p:sp>
    </p:spTree>
    <p:extLst>
      <p:ext uri="{BB962C8B-B14F-4D97-AF65-F5344CB8AC3E}">
        <p14:creationId xmlns:p14="http://schemas.microsoft.com/office/powerpoint/2010/main" val="2859518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415600" y="866333"/>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415600" y="16299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2" name="Google Shape;22;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algn="r"/>
            <a:fld id="{00000000-1234-1234-1234-123412341234}" type="slidenum">
              <a:rPr lang="en" smtClean="0"/>
              <a:pPr marL="0" algn="r"/>
              <a:t>‹#›</a:t>
            </a:fld>
            <a:endParaRPr lang="en"/>
          </a:p>
        </p:txBody>
      </p:sp>
    </p:spTree>
    <p:extLst>
      <p:ext uri="{BB962C8B-B14F-4D97-AF65-F5344CB8AC3E}">
        <p14:creationId xmlns:p14="http://schemas.microsoft.com/office/powerpoint/2010/main" val="3020002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4C6DD9-4219-40A8-8F44-63C9070249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8C4866-92C1-4692-8CBB-1912766537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32B244-8F54-41C3-BCD9-42D94E638F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13ED48-2278-4568-B093-60AFDFAF8A6E}" type="datetimeFigureOut">
              <a:rPr lang="en-US" smtClean="0"/>
              <a:t>11/25/2024</a:t>
            </a:fld>
            <a:endParaRPr lang="en-US"/>
          </a:p>
        </p:txBody>
      </p:sp>
      <p:sp>
        <p:nvSpPr>
          <p:cNvPr id="5" name="Footer Placeholder 4">
            <a:extLst>
              <a:ext uri="{FF2B5EF4-FFF2-40B4-BE49-F238E27FC236}">
                <a16:creationId xmlns:a16="http://schemas.microsoft.com/office/drawing/2014/main" id="{F8568A35-8CC5-49B9-8B21-DD6F946FCF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6D1D66-B290-4A5D-9D60-90F9C0BB98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61BBD7-DDEC-4312-B0C5-DAFD966D45B3}" type="slidenum">
              <a:rPr lang="en-US" smtClean="0"/>
              <a:t>‹#›</a:t>
            </a:fld>
            <a:endParaRPr lang="en-US"/>
          </a:p>
        </p:txBody>
      </p:sp>
    </p:spTree>
    <p:extLst>
      <p:ext uri="{BB962C8B-B14F-4D97-AF65-F5344CB8AC3E}">
        <p14:creationId xmlns:p14="http://schemas.microsoft.com/office/powerpoint/2010/main" val="3386555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3F18067-8636-4357-AED8-A0A795CD1548}"/>
              </a:ext>
            </a:extLst>
          </p:cNvPr>
          <p:cNvSpPr>
            <a:spLocks noGrp="1"/>
          </p:cNvSpPr>
          <p:nvPr>
            <p:ph type="body" idx="1"/>
          </p:nvPr>
        </p:nvSpPr>
        <p:spPr>
          <a:xfrm>
            <a:off x="1055475" y="1038413"/>
            <a:ext cx="11360800" cy="1316467"/>
          </a:xfrm>
        </p:spPr>
        <p:txBody>
          <a:bodyPr/>
          <a:lstStyle/>
          <a:p>
            <a:pPr marL="152396" indent="0">
              <a:buNone/>
            </a:pPr>
            <a:r>
              <a:rPr lang="en-US" sz="3200" b="1" dirty="0"/>
              <a:t>Downburst Microphysical and Thermodynamic Processes</a:t>
            </a:r>
          </a:p>
          <a:p>
            <a:pPr lvl="1"/>
            <a:endParaRPr lang="en-US" sz="2000" b="1" dirty="0"/>
          </a:p>
          <a:p>
            <a:endParaRPr lang="en-US" dirty="0"/>
          </a:p>
        </p:txBody>
      </p:sp>
      <p:sp>
        <p:nvSpPr>
          <p:cNvPr id="4" name="TextBox 3">
            <a:extLst>
              <a:ext uri="{FF2B5EF4-FFF2-40B4-BE49-F238E27FC236}">
                <a16:creationId xmlns:a16="http://schemas.microsoft.com/office/drawing/2014/main" id="{3055A00C-E7D8-436A-8CDC-70EF53563266}"/>
              </a:ext>
            </a:extLst>
          </p:cNvPr>
          <p:cNvSpPr txBox="1"/>
          <p:nvPr/>
        </p:nvSpPr>
        <p:spPr>
          <a:xfrm>
            <a:off x="1055475" y="-28630"/>
            <a:ext cx="10081050" cy="707886"/>
          </a:xfrm>
          <a:prstGeom prst="rect">
            <a:avLst/>
          </a:prstGeom>
          <a:noFill/>
        </p:spPr>
        <p:txBody>
          <a:bodyPr wrap="square" rtlCol="0">
            <a:spAutoFit/>
          </a:bodyPr>
          <a:lstStyle/>
          <a:p>
            <a:pPr algn="ctr"/>
            <a:r>
              <a:rPr lang="en-US" sz="4000" b="1" dirty="0">
                <a:solidFill>
                  <a:schemeClr val="bg1"/>
                </a:solidFill>
              </a:rPr>
              <a:t>Chapter 2: Theoretical Background</a:t>
            </a:r>
          </a:p>
        </p:txBody>
      </p:sp>
      <p:pic>
        <p:nvPicPr>
          <p:cNvPr id="5" name="Picture 4">
            <a:extLst>
              <a:ext uri="{FF2B5EF4-FFF2-40B4-BE49-F238E27FC236}">
                <a16:creationId xmlns:a16="http://schemas.microsoft.com/office/drawing/2014/main" id="{115D77E6-C14C-45F4-84A9-E3B1E0B3F06D}"/>
              </a:ext>
            </a:extLst>
          </p:cNvPr>
          <p:cNvPicPr>
            <a:picLocks noChangeAspect="1"/>
          </p:cNvPicPr>
          <p:nvPr/>
        </p:nvPicPr>
        <p:blipFill>
          <a:blip r:embed="rId3"/>
          <a:stretch>
            <a:fillRect/>
          </a:stretch>
        </p:blipFill>
        <p:spPr>
          <a:xfrm>
            <a:off x="0" y="1594853"/>
            <a:ext cx="6416793" cy="4713161"/>
          </a:xfrm>
          <a:prstGeom prst="rect">
            <a:avLst/>
          </a:prstGeom>
        </p:spPr>
      </p:pic>
      <p:sp>
        <p:nvSpPr>
          <p:cNvPr id="6" name="TextBox 5">
            <a:extLst>
              <a:ext uri="{FF2B5EF4-FFF2-40B4-BE49-F238E27FC236}">
                <a16:creationId xmlns:a16="http://schemas.microsoft.com/office/drawing/2014/main" id="{FC318F42-A888-4A12-92AA-EB5FDBE1C232}"/>
              </a:ext>
            </a:extLst>
          </p:cNvPr>
          <p:cNvSpPr txBox="1"/>
          <p:nvPr/>
        </p:nvSpPr>
        <p:spPr>
          <a:xfrm>
            <a:off x="6416793" y="1935496"/>
            <a:ext cx="5692457" cy="4031873"/>
          </a:xfrm>
          <a:prstGeom prst="rect">
            <a:avLst/>
          </a:prstGeom>
          <a:noFill/>
        </p:spPr>
        <p:txBody>
          <a:bodyPr wrap="square" rtlCol="0">
            <a:spAutoFit/>
          </a:bodyPr>
          <a:lstStyle/>
          <a:p>
            <a:pPr marL="342900" indent="-342900" algn="just">
              <a:buFont typeface="+mj-lt"/>
              <a:buAutoNum type="arabicParenR"/>
            </a:pPr>
            <a:r>
              <a:rPr lang="en-US" sz="1600" b="1" dirty="0"/>
              <a:t>The power of the downdraft also increases in proportion to the relative concentration of smaller particles. </a:t>
            </a:r>
          </a:p>
          <a:p>
            <a:pPr marL="342900" indent="-342900" algn="just">
              <a:buFont typeface="+mj-lt"/>
              <a:buAutoNum type="arabicParenR"/>
            </a:pPr>
            <a:endParaRPr lang="en-US" sz="1600" b="1" dirty="0"/>
          </a:p>
          <a:p>
            <a:pPr marL="342900" indent="-342900" algn="just">
              <a:buFont typeface="+mj-lt"/>
              <a:buAutoNum type="arabicParenR"/>
            </a:pPr>
            <a:r>
              <a:rPr lang="en-US" sz="1600" b="1" dirty="0"/>
              <a:t>In conjunction with precipitation loading, the melting of frozen hydrometeors and </a:t>
            </a:r>
            <a:r>
              <a:rPr lang="en-US" sz="1600" b="1" dirty="0" err="1"/>
              <a:t>subcloud</a:t>
            </a:r>
            <a:r>
              <a:rPr lang="en-US" sz="1600" b="1" dirty="0"/>
              <a:t> evaporation of liquid precipitation results in the cooling and negative buoyancy that accelerate the downdraft in the unsaturated layer promoted by a significant temperature lapse rate (Srivastava 1985, 1987). </a:t>
            </a:r>
          </a:p>
          <a:p>
            <a:pPr marL="342900" indent="-342900" algn="just">
              <a:buFont typeface="+mj-lt"/>
              <a:buAutoNum type="arabicParenR"/>
            </a:pPr>
            <a:endParaRPr lang="en-US" sz="1600" b="1" dirty="0"/>
          </a:p>
          <a:p>
            <a:pPr marL="342900" indent="-342900" algn="just">
              <a:buFont typeface="+mj-lt"/>
              <a:buAutoNum type="arabicParenR"/>
            </a:pPr>
            <a:r>
              <a:rPr lang="en-US" sz="1600" b="1" dirty="0"/>
              <a:t>The melting of ice-phase precipitation, subsequent evaporative cooling, and the resulting downdraft strength are enhanced by sizeable liquid water content and the related water surface available for evaporation.</a:t>
            </a:r>
          </a:p>
        </p:txBody>
      </p:sp>
      <p:sp>
        <p:nvSpPr>
          <p:cNvPr id="7" name="Oval 6">
            <a:extLst>
              <a:ext uri="{FF2B5EF4-FFF2-40B4-BE49-F238E27FC236}">
                <a16:creationId xmlns:a16="http://schemas.microsoft.com/office/drawing/2014/main" id="{C7233C45-D78C-4B98-B7B6-BCBF4FD6AFAF}"/>
              </a:ext>
            </a:extLst>
          </p:cNvPr>
          <p:cNvSpPr/>
          <p:nvPr/>
        </p:nvSpPr>
        <p:spPr>
          <a:xfrm rot="20620083">
            <a:off x="4246959" y="3145256"/>
            <a:ext cx="1196493" cy="2181582"/>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DC623EA-5030-4835-A4DC-8E71E04E44D9}"/>
              </a:ext>
            </a:extLst>
          </p:cNvPr>
          <p:cNvSpPr txBox="1"/>
          <p:nvPr/>
        </p:nvSpPr>
        <p:spPr>
          <a:xfrm>
            <a:off x="82750" y="4686948"/>
            <a:ext cx="2728632" cy="1323439"/>
          </a:xfrm>
          <a:prstGeom prst="rect">
            <a:avLst/>
          </a:prstGeom>
          <a:noFill/>
        </p:spPr>
        <p:txBody>
          <a:bodyPr wrap="none" rtlCol="0">
            <a:spAutoFit/>
          </a:bodyPr>
          <a:lstStyle/>
          <a:p>
            <a:r>
              <a:rPr lang="en-US" sz="1600" b="1" dirty="0">
                <a:solidFill>
                  <a:schemeClr val="bg1"/>
                </a:solidFill>
              </a:rPr>
              <a:t>1) Precipitation loading</a:t>
            </a:r>
          </a:p>
          <a:p>
            <a:r>
              <a:rPr lang="en-US" sz="1600" b="1" dirty="0">
                <a:solidFill>
                  <a:schemeClr val="bg1"/>
                </a:solidFill>
              </a:rPr>
              <a:t>2) Latent cooling  </a:t>
            </a:r>
          </a:p>
          <a:p>
            <a:r>
              <a:rPr lang="en-US" sz="1600" b="1" dirty="0">
                <a:solidFill>
                  <a:schemeClr val="bg1"/>
                </a:solidFill>
              </a:rPr>
              <a:t>3) Negative buoyancy (F)</a:t>
            </a:r>
          </a:p>
          <a:p>
            <a:r>
              <a:rPr lang="en-US" sz="1600" b="1" dirty="0">
                <a:solidFill>
                  <a:schemeClr val="bg1"/>
                </a:solidFill>
              </a:rPr>
              <a:t>4) Downdraft acceleration</a:t>
            </a:r>
          </a:p>
          <a:p>
            <a:r>
              <a:rPr lang="en-US" sz="1600" b="1" dirty="0">
                <a:solidFill>
                  <a:schemeClr val="bg1"/>
                </a:solidFill>
              </a:rPr>
              <a:t>Srivastava (1985, 1987)</a:t>
            </a:r>
          </a:p>
        </p:txBody>
      </p:sp>
      <p:sp>
        <p:nvSpPr>
          <p:cNvPr id="9" name="TextBox 8">
            <a:extLst>
              <a:ext uri="{FF2B5EF4-FFF2-40B4-BE49-F238E27FC236}">
                <a16:creationId xmlns:a16="http://schemas.microsoft.com/office/drawing/2014/main" id="{A2A6837F-21E5-4432-99C8-C9FE3EAB95BB}"/>
              </a:ext>
            </a:extLst>
          </p:cNvPr>
          <p:cNvSpPr txBox="1"/>
          <p:nvPr/>
        </p:nvSpPr>
        <p:spPr>
          <a:xfrm>
            <a:off x="4407786" y="3747306"/>
            <a:ext cx="372218" cy="461665"/>
          </a:xfrm>
          <a:prstGeom prst="rect">
            <a:avLst/>
          </a:prstGeom>
          <a:noFill/>
        </p:spPr>
        <p:txBody>
          <a:bodyPr wrap="square" rtlCol="0">
            <a:spAutoFit/>
          </a:bodyPr>
          <a:lstStyle/>
          <a:p>
            <a:r>
              <a:rPr lang="en-US" sz="2400" b="1" dirty="0">
                <a:solidFill>
                  <a:schemeClr val="bg1"/>
                </a:solidFill>
              </a:rPr>
              <a:t>F</a:t>
            </a:r>
          </a:p>
        </p:txBody>
      </p:sp>
      <p:sp>
        <p:nvSpPr>
          <p:cNvPr id="10" name="Arrow: Down 9">
            <a:extLst>
              <a:ext uri="{FF2B5EF4-FFF2-40B4-BE49-F238E27FC236}">
                <a16:creationId xmlns:a16="http://schemas.microsoft.com/office/drawing/2014/main" id="{AD9E3AC7-6AB5-4191-8A6C-AFB0AE731BD8}"/>
              </a:ext>
            </a:extLst>
          </p:cNvPr>
          <p:cNvSpPr/>
          <p:nvPr/>
        </p:nvSpPr>
        <p:spPr>
          <a:xfrm>
            <a:off x="4676908" y="3829618"/>
            <a:ext cx="114299" cy="297039"/>
          </a:xfrm>
          <a:prstGeom prst="downArrow">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C05EC5C1-0844-4758-9A49-DF14B9BB00A0}"/>
              </a:ext>
            </a:extLst>
          </p:cNvPr>
          <p:cNvCxnSpPr>
            <a:cxnSpLocks/>
          </p:cNvCxnSpPr>
          <p:nvPr/>
        </p:nvCxnSpPr>
        <p:spPr>
          <a:xfrm flipV="1">
            <a:off x="2475001" y="4236047"/>
            <a:ext cx="2259056" cy="620992"/>
          </a:xfrm>
          <a:prstGeom prst="straightConnector1">
            <a:avLst/>
          </a:prstGeom>
          <a:ln w="317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6518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55A00C-E7D8-436A-8CDC-70EF53563266}"/>
              </a:ext>
            </a:extLst>
          </p:cNvPr>
          <p:cNvSpPr txBox="1"/>
          <p:nvPr/>
        </p:nvSpPr>
        <p:spPr>
          <a:xfrm>
            <a:off x="811659" y="-15987"/>
            <a:ext cx="10568683" cy="707886"/>
          </a:xfrm>
          <a:prstGeom prst="rect">
            <a:avLst/>
          </a:prstGeom>
          <a:noFill/>
        </p:spPr>
        <p:txBody>
          <a:bodyPr wrap="square" rtlCol="0">
            <a:spAutoFit/>
          </a:bodyPr>
          <a:lstStyle/>
          <a:p>
            <a:pPr algn="ctr"/>
            <a:r>
              <a:rPr lang="en-US" sz="4000" b="1" dirty="0">
                <a:solidFill>
                  <a:schemeClr val="bg1"/>
                </a:solidFill>
              </a:rPr>
              <a:t>Chapter 2: Theoretical Background</a:t>
            </a:r>
          </a:p>
        </p:txBody>
      </p:sp>
      <p:pic>
        <p:nvPicPr>
          <p:cNvPr id="5" name="Picture 4">
            <a:extLst>
              <a:ext uri="{FF2B5EF4-FFF2-40B4-BE49-F238E27FC236}">
                <a16:creationId xmlns:a16="http://schemas.microsoft.com/office/drawing/2014/main" id="{44C0A444-2F81-4B43-8024-0D5B90BC297B}"/>
              </a:ext>
            </a:extLst>
          </p:cNvPr>
          <p:cNvPicPr>
            <a:picLocks noChangeAspect="1"/>
          </p:cNvPicPr>
          <p:nvPr/>
        </p:nvPicPr>
        <p:blipFill>
          <a:blip r:embed="rId3"/>
          <a:stretch>
            <a:fillRect/>
          </a:stretch>
        </p:blipFill>
        <p:spPr>
          <a:xfrm>
            <a:off x="-20320" y="1505846"/>
            <a:ext cx="6468467" cy="4751116"/>
          </a:xfrm>
          <a:prstGeom prst="rect">
            <a:avLst/>
          </a:prstGeom>
        </p:spPr>
      </p:pic>
      <p:sp>
        <p:nvSpPr>
          <p:cNvPr id="6" name="TextBox 5">
            <a:extLst>
              <a:ext uri="{FF2B5EF4-FFF2-40B4-BE49-F238E27FC236}">
                <a16:creationId xmlns:a16="http://schemas.microsoft.com/office/drawing/2014/main" id="{A3B90886-1CCE-47C3-811A-AD7B5CAF7CE7}"/>
              </a:ext>
            </a:extLst>
          </p:cNvPr>
          <p:cNvSpPr txBox="1"/>
          <p:nvPr/>
        </p:nvSpPr>
        <p:spPr>
          <a:xfrm>
            <a:off x="6506879" y="1505846"/>
            <a:ext cx="5679455" cy="5016758"/>
          </a:xfrm>
          <a:prstGeom prst="rect">
            <a:avLst/>
          </a:prstGeom>
          <a:noFill/>
        </p:spPr>
        <p:txBody>
          <a:bodyPr wrap="square" rtlCol="0">
            <a:spAutoFit/>
          </a:bodyPr>
          <a:lstStyle/>
          <a:p>
            <a:r>
              <a:rPr lang="en-US" sz="1600" b="1" dirty="0" err="1"/>
              <a:t>Knupp</a:t>
            </a:r>
            <a:r>
              <a:rPr lang="en-US" sz="1600" b="1" dirty="0"/>
              <a:t> (1989, 1996) refined the understanding of the </a:t>
            </a:r>
          </a:p>
          <a:p>
            <a:r>
              <a:rPr lang="en-US" sz="1600" b="1" dirty="0"/>
              <a:t>downburst generation’s physical and dynamic processes: </a:t>
            </a:r>
          </a:p>
          <a:p>
            <a:pPr lvl="0" algn="just">
              <a:buSzPts val="1400"/>
              <a:buFont typeface="+mj-lt"/>
              <a:buAutoNum type="arabicParenR"/>
              <a:defRPr/>
            </a:pPr>
            <a:r>
              <a:rPr lang="en-US" sz="1600" b="1" dirty="0">
                <a:latin typeface="+mj-lt"/>
                <a:cs typeface="Calibri"/>
                <a:sym typeface="Calibri"/>
              </a:rPr>
              <a:t> Downdrafts are closely controlled by the arrival of precipitation at low levels. In the storm middle levels, air flows quasi-horizontally around the updraft flanks and converges into the </a:t>
            </a:r>
            <a:r>
              <a:rPr lang="en-US" sz="1600" b="1" dirty="0" err="1">
                <a:latin typeface="+mj-lt"/>
                <a:cs typeface="Calibri"/>
                <a:sym typeface="Calibri"/>
              </a:rPr>
              <a:t>downshear</a:t>
            </a:r>
            <a:r>
              <a:rPr lang="en-US" sz="1600" b="1" dirty="0">
                <a:latin typeface="+mj-lt"/>
                <a:cs typeface="Calibri"/>
                <a:sym typeface="Calibri"/>
              </a:rPr>
              <a:t> flank (i.e. wake). </a:t>
            </a:r>
          </a:p>
          <a:p>
            <a:pPr lvl="0" algn="just">
              <a:buSzPts val="1400"/>
              <a:buFont typeface="+mj-lt"/>
              <a:buAutoNum type="arabicParenR"/>
              <a:defRPr/>
            </a:pPr>
            <a:endParaRPr lang="en-US" sz="1600" b="1" dirty="0">
              <a:latin typeface="+mj-lt"/>
              <a:cs typeface="Calibri"/>
              <a:sym typeface="Calibri"/>
            </a:endParaRPr>
          </a:p>
          <a:p>
            <a:pPr lvl="0" algn="just">
              <a:buSzPts val="1400"/>
              <a:buFont typeface="+mj-lt"/>
              <a:buAutoNum type="arabicParenR"/>
              <a:defRPr/>
            </a:pPr>
            <a:r>
              <a:rPr lang="en-US" sz="1600" b="1" dirty="0">
                <a:latin typeface="+mj-lt"/>
                <a:cs typeface="Calibri"/>
                <a:sym typeface="Calibri"/>
              </a:rPr>
              <a:t> The intrusion of drier air into the wake’s precipitation region also enhances the evaporation/sublimation process. Diabatic cooling from melting and evaporation is most effective at levels below the melting level. </a:t>
            </a:r>
          </a:p>
          <a:p>
            <a:pPr lvl="0" algn="just">
              <a:buSzPts val="1400"/>
              <a:buFont typeface="+mj-lt"/>
              <a:buAutoNum type="arabicParenR"/>
              <a:defRPr/>
            </a:pPr>
            <a:endParaRPr lang="en-US" sz="1600" b="1" dirty="0">
              <a:latin typeface="+mj-lt"/>
              <a:cs typeface="Calibri"/>
              <a:sym typeface="Calibri"/>
            </a:endParaRPr>
          </a:p>
          <a:p>
            <a:pPr lvl="0" algn="just">
              <a:buSzPts val="1400"/>
              <a:buFont typeface="+mj-lt"/>
              <a:buAutoNum type="arabicParenR"/>
              <a:defRPr/>
            </a:pPr>
            <a:r>
              <a:rPr lang="en-US" sz="1600" b="1" dirty="0">
                <a:latin typeface="+mj-lt"/>
                <a:cs typeface="Calibri"/>
                <a:sym typeface="Calibri"/>
              </a:rPr>
              <a:t> A comprehensive understanding of the downdraft initiation process is closely related to the precipitation initiation and transport process within clouds and is observable in passive microwave imagery, as shown in the following case studies.</a:t>
            </a:r>
          </a:p>
          <a:p>
            <a:endParaRPr lang="en-US" sz="1600" b="1" dirty="0">
              <a:latin typeface="+mj-lt"/>
            </a:endParaRPr>
          </a:p>
          <a:p>
            <a:endParaRPr lang="en-US" sz="1600" b="1" dirty="0"/>
          </a:p>
        </p:txBody>
      </p:sp>
      <p:sp>
        <p:nvSpPr>
          <p:cNvPr id="7" name="Oval 6">
            <a:extLst>
              <a:ext uri="{FF2B5EF4-FFF2-40B4-BE49-F238E27FC236}">
                <a16:creationId xmlns:a16="http://schemas.microsoft.com/office/drawing/2014/main" id="{67165794-8164-455B-91AF-D06A3F58B513}"/>
              </a:ext>
            </a:extLst>
          </p:cNvPr>
          <p:cNvSpPr/>
          <p:nvPr/>
        </p:nvSpPr>
        <p:spPr>
          <a:xfrm rot="20620083">
            <a:off x="4340725" y="3756061"/>
            <a:ext cx="1196493" cy="1593957"/>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B55E9A6-04BE-4D37-94B9-5FEAC33A8760}"/>
              </a:ext>
            </a:extLst>
          </p:cNvPr>
          <p:cNvCxnSpPr/>
          <p:nvPr/>
        </p:nvCxnSpPr>
        <p:spPr>
          <a:xfrm flipH="1">
            <a:off x="5356766" y="4527286"/>
            <a:ext cx="1091381" cy="0"/>
          </a:xfrm>
          <a:prstGeom prst="straightConnector1">
            <a:avLst/>
          </a:prstGeom>
          <a:ln w="317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826D926-DF60-4B8E-BC8D-F4EF56070A06}"/>
              </a:ext>
            </a:extLst>
          </p:cNvPr>
          <p:cNvSpPr txBox="1"/>
          <p:nvPr/>
        </p:nvSpPr>
        <p:spPr>
          <a:xfrm>
            <a:off x="38412" y="3594118"/>
            <a:ext cx="3933996" cy="707886"/>
          </a:xfrm>
          <a:prstGeom prst="rect">
            <a:avLst/>
          </a:prstGeom>
          <a:noFill/>
        </p:spPr>
        <p:txBody>
          <a:bodyPr wrap="square" rtlCol="0">
            <a:spAutoFit/>
          </a:bodyPr>
          <a:lstStyle/>
          <a:p>
            <a:r>
              <a:rPr lang="en-US" sz="2000" b="1" dirty="0" err="1">
                <a:solidFill>
                  <a:schemeClr val="bg1"/>
                </a:solidFill>
              </a:rPr>
              <a:t>Downshear</a:t>
            </a:r>
            <a:r>
              <a:rPr lang="en-US" sz="2000" b="1" dirty="0">
                <a:solidFill>
                  <a:schemeClr val="bg1"/>
                </a:solidFill>
              </a:rPr>
              <a:t> wake entrainment</a:t>
            </a:r>
          </a:p>
          <a:p>
            <a:r>
              <a:rPr lang="en-US" sz="2000" b="1" dirty="0" err="1">
                <a:solidFill>
                  <a:schemeClr val="bg1"/>
                </a:solidFill>
              </a:rPr>
              <a:t>Knupp</a:t>
            </a:r>
            <a:r>
              <a:rPr lang="en-US" sz="2000" b="1" dirty="0">
                <a:solidFill>
                  <a:schemeClr val="bg1"/>
                </a:solidFill>
              </a:rPr>
              <a:t> (1989, 1996)</a:t>
            </a:r>
          </a:p>
        </p:txBody>
      </p:sp>
      <p:cxnSp>
        <p:nvCxnSpPr>
          <p:cNvPr id="14" name="Connector: Curved 13">
            <a:extLst>
              <a:ext uri="{FF2B5EF4-FFF2-40B4-BE49-F238E27FC236}">
                <a16:creationId xmlns:a16="http://schemas.microsoft.com/office/drawing/2014/main" id="{074D74A6-4343-4C1F-AD13-1ABD5E16BA96}"/>
              </a:ext>
            </a:extLst>
          </p:cNvPr>
          <p:cNvCxnSpPr>
            <a:cxnSpLocks/>
          </p:cNvCxnSpPr>
          <p:nvPr/>
        </p:nvCxnSpPr>
        <p:spPr>
          <a:xfrm>
            <a:off x="2776760" y="3616599"/>
            <a:ext cx="2653905" cy="751423"/>
          </a:xfrm>
          <a:prstGeom prst="curvedConnector3">
            <a:avLst>
              <a:gd name="adj1" fmla="val 139815"/>
            </a:avLst>
          </a:prstGeom>
          <a:ln w="31750">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0FB0255-FB3C-4C2C-98A4-6794C8688A2E}"/>
              </a:ext>
            </a:extLst>
          </p:cNvPr>
          <p:cNvSpPr txBox="1"/>
          <p:nvPr/>
        </p:nvSpPr>
        <p:spPr>
          <a:xfrm>
            <a:off x="4816797" y="4306341"/>
            <a:ext cx="372218" cy="461665"/>
          </a:xfrm>
          <a:prstGeom prst="rect">
            <a:avLst/>
          </a:prstGeom>
          <a:noFill/>
        </p:spPr>
        <p:txBody>
          <a:bodyPr wrap="square" rtlCol="0">
            <a:spAutoFit/>
          </a:bodyPr>
          <a:lstStyle/>
          <a:p>
            <a:r>
              <a:rPr lang="en-US" sz="2400" b="1" dirty="0">
                <a:solidFill>
                  <a:schemeClr val="bg1"/>
                </a:solidFill>
              </a:rPr>
              <a:t>F</a:t>
            </a:r>
          </a:p>
        </p:txBody>
      </p:sp>
      <p:sp>
        <p:nvSpPr>
          <p:cNvPr id="30" name="Arrow: Down 29">
            <a:extLst>
              <a:ext uri="{FF2B5EF4-FFF2-40B4-BE49-F238E27FC236}">
                <a16:creationId xmlns:a16="http://schemas.microsoft.com/office/drawing/2014/main" id="{C3B8C2B5-F46C-4E41-8BA3-AA3F5684DA46}"/>
              </a:ext>
            </a:extLst>
          </p:cNvPr>
          <p:cNvSpPr/>
          <p:nvPr/>
        </p:nvSpPr>
        <p:spPr>
          <a:xfrm>
            <a:off x="5074716" y="4396882"/>
            <a:ext cx="114299" cy="297039"/>
          </a:xfrm>
          <a:prstGeom prst="downArrow">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6674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6717ECE-6C4C-4D3D-BB1B-E1B12B30478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 y="-13674"/>
            <a:ext cx="7349593" cy="3429000"/>
          </a:xfrm>
        </p:spPr>
      </p:pic>
      <p:pic>
        <p:nvPicPr>
          <p:cNvPr id="8" name="Content Placeholder 7">
            <a:extLst>
              <a:ext uri="{FF2B5EF4-FFF2-40B4-BE49-F238E27FC236}">
                <a16:creationId xmlns:a16="http://schemas.microsoft.com/office/drawing/2014/main" id="{724A8179-1B1D-42AA-98FB-117443CF7A4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 y="3429001"/>
            <a:ext cx="7349593" cy="3429000"/>
          </a:xfrm>
        </p:spPr>
      </p:pic>
      <p:sp>
        <p:nvSpPr>
          <p:cNvPr id="9" name="Oval 8">
            <a:extLst>
              <a:ext uri="{FF2B5EF4-FFF2-40B4-BE49-F238E27FC236}">
                <a16:creationId xmlns:a16="http://schemas.microsoft.com/office/drawing/2014/main" id="{A7739F2C-EDF7-4BAF-9C55-6339DD06D70D}"/>
              </a:ext>
            </a:extLst>
          </p:cNvPr>
          <p:cNvSpPr/>
          <p:nvPr/>
        </p:nvSpPr>
        <p:spPr>
          <a:xfrm>
            <a:off x="3363711" y="1583703"/>
            <a:ext cx="311084" cy="480767"/>
          </a:xfrm>
          <a:prstGeom prst="ellipse">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84A220E-7E44-448C-AD98-0FF020E52320}"/>
              </a:ext>
            </a:extLst>
          </p:cNvPr>
          <p:cNvSpPr/>
          <p:nvPr/>
        </p:nvSpPr>
        <p:spPr>
          <a:xfrm>
            <a:off x="3363711" y="5012703"/>
            <a:ext cx="311084" cy="501977"/>
          </a:xfrm>
          <a:prstGeom prst="ellipse">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8187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A8C56C5-44AA-4E11-8265-18832ECA2C6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 y="0"/>
            <a:ext cx="7349591" cy="3429000"/>
          </a:xfrm>
        </p:spPr>
      </p:pic>
      <p:pic>
        <p:nvPicPr>
          <p:cNvPr id="8" name="Content Placeholder 7">
            <a:extLst>
              <a:ext uri="{FF2B5EF4-FFF2-40B4-BE49-F238E27FC236}">
                <a16:creationId xmlns:a16="http://schemas.microsoft.com/office/drawing/2014/main" id="{E2AE5AB8-5F7A-4910-B7B1-CA5D78DF177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 y="3429000"/>
            <a:ext cx="7349597" cy="3429002"/>
          </a:xfrm>
        </p:spPr>
      </p:pic>
      <p:sp>
        <p:nvSpPr>
          <p:cNvPr id="9" name="Oval 8">
            <a:extLst>
              <a:ext uri="{FF2B5EF4-FFF2-40B4-BE49-F238E27FC236}">
                <a16:creationId xmlns:a16="http://schemas.microsoft.com/office/drawing/2014/main" id="{6C03CE90-0536-447E-AA46-AE3DE94E3EC3}"/>
              </a:ext>
            </a:extLst>
          </p:cNvPr>
          <p:cNvSpPr/>
          <p:nvPr/>
        </p:nvSpPr>
        <p:spPr>
          <a:xfrm>
            <a:off x="3363711" y="1583703"/>
            <a:ext cx="311084" cy="480767"/>
          </a:xfrm>
          <a:prstGeom prst="ellipse">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6640CBC-A44B-456B-BDCD-FFB907C6D557}"/>
              </a:ext>
            </a:extLst>
          </p:cNvPr>
          <p:cNvSpPr/>
          <p:nvPr/>
        </p:nvSpPr>
        <p:spPr>
          <a:xfrm>
            <a:off x="3363711" y="5012703"/>
            <a:ext cx="311084" cy="501977"/>
          </a:xfrm>
          <a:prstGeom prst="ellipse">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9181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0E29F6A-EE31-427B-957E-63C1DC2BEDE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0" y="200320"/>
            <a:ext cx="12208896" cy="6457360"/>
          </a:xfrm>
        </p:spPr>
      </p:pic>
    </p:spTree>
    <p:extLst>
      <p:ext uri="{BB962C8B-B14F-4D97-AF65-F5344CB8AC3E}">
        <p14:creationId xmlns:p14="http://schemas.microsoft.com/office/powerpoint/2010/main" val="1815979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B320DA2-56AA-490F-99AC-AC764D315F7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 y="0"/>
            <a:ext cx="6175269" cy="3429000"/>
          </a:xfrm>
        </p:spPr>
      </p:pic>
      <p:pic>
        <p:nvPicPr>
          <p:cNvPr id="8" name="Content Placeholder 7">
            <a:extLst>
              <a:ext uri="{FF2B5EF4-FFF2-40B4-BE49-F238E27FC236}">
                <a16:creationId xmlns:a16="http://schemas.microsoft.com/office/drawing/2014/main" id="{53BDCC6B-3ECE-4204-B575-1D39A52B28B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0" y="3429002"/>
            <a:ext cx="6175268" cy="3428999"/>
          </a:xfrm>
        </p:spPr>
      </p:pic>
      <p:sp>
        <p:nvSpPr>
          <p:cNvPr id="9" name="Oval 8">
            <a:extLst>
              <a:ext uri="{FF2B5EF4-FFF2-40B4-BE49-F238E27FC236}">
                <a16:creationId xmlns:a16="http://schemas.microsoft.com/office/drawing/2014/main" id="{19CDCCDC-382B-4694-86F5-CEB53F520847}"/>
              </a:ext>
            </a:extLst>
          </p:cNvPr>
          <p:cNvSpPr/>
          <p:nvPr/>
        </p:nvSpPr>
        <p:spPr>
          <a:xfrm>
            <a:off x="2790333" y="1743958"/>
            <a:ext cx="259593" cy="329939"/>
          </a:xfrm>
          <a:prstGeom prst="ellipse">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8A0220-48AA-41E0-952A-C14712F6B1B7}"/>
              </a:ext>
            </a:extLst>
          </p:cNvPr>
          <p:cNvSpPr/>
          <p:nvPr/>
        </p:nvSpPr>
        <p:spPr>
          <a:xfrm>
            <a:off x="2790333" y="5172959"/>
            <a:ext cx="259593" cy="329938"/>
          </a:xfrm>
          <a:prstGeom prst="ellipse">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8853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D9BFFAD-9D9B-4086-85CD-59E9BB01F1B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0" y="693639"/>
            <a:ext cx="6123191" cy="5470721"/>
          </a:xfrm>
        </p:spPr>
      </p:pic>
      <p:pic>
        <p:nvPicPr>
          <p:cNvPr id="8" name="Content Placeholder 7">
            <a:extLst>
              <a:ext uri="{FF2B5EF4-FFF2-40B4-BE49-F238E27FC236}">
                <a16:creationId xmlns:a16="http://schemas.microsoft.com/office/drawing/2014/main" id="{8BA0C2DC-3971-4AAF-8997-93439BFCC96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23191" y="693639"/>
            <a:ext cx="5932703" cy="5536512"/>
          </a:xfrm>
        </p:spPr>
      </p:pic>
    </p:spTree>
    <p:extLst>
      <p:ext uri="{BB962C8B-B14F-4D97-AF65-F5344CB8AC3E}">
        <p14:creationId xmlns:p14="http://schemas.microsoft.com/office/powerpoint/2010/main" val="2645349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1955</TotalTime>
  <Words>514</Words>
  <Application>Microsoft Office PowerPoint</Application>
  <PresentationFormat>Widescreen</PresentationFormat>
  <Paragraphs>35</Paragraphs>
  <Slides>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Kenneth Pryor</dc:creator>
  <cp:lastModifiedBy>Kenneth Pryor</cp:lastModifiedBy>
  <cp:revision>6</cp:revision>
  <dcterms:created xsi:type="dcterms:W3CDTF">2024-10-15T12:46:33Z</dcterms:created>
  <dcterms:modified xsi:type="dcterms:W3CDTF">2024-11-25T22:26:34Z</dcterms:modified>
</cp:coreProperties>
</file>